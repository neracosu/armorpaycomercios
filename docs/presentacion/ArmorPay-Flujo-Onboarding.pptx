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73736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22D3EE"/>
                </a:solidFill>
                <a:latin typeface="Calibri"/>
              </a:rPr>
              <a:t>EL ALTA DE UN COMERCIO, DE PUNTA A PUNTA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148840"/>
            <a:ext cx="1115568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800" b="1">
                <a:solidFill>
                  <a:srgbClr val="FFFFFF"/>
                </a:solidFill>
                <a:latin typeface="Calibri"/>
              </a:rPr>
              <a:t>Se registra solo. </a:t>
            </a:r>
            <a:r>
              <a:rPr sz="4800" b="1">
                <a:solidFill>
                  <a:srgbClr val="22D3EE"/>
                </a:solidFill>
                <a:latin typeface="Calibri"/>
              </a:rPr>
              <a:t>Nosotros aprobamos.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38328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CBD5E1"/>
                </a:solidFill>
                <a:latin typeface="Calibri"/>
              </a:rPr>
              <a:t>Cómo funciona el flujo de afiliación self-service de ArmorPay: del registro público a la primera venta cobrada.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7607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94A3B8"/>
                </a:solidFill>
                <a:latin typeface="Calibri"/>
              </a:rPr>
              <a:t>Para Dirección y socios · Confidencial · Agosto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Calibri"/>
              </a:rPr>
              <a:t>ArmorPay · Un proyecto de VipSoft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77295" y="6400800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85855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FFFFFF"/>
                </a:solidFill>
                <a:latin typeface="Calibri"/>
              </a:rPr>
              <a:t>Autogestión sí. </a:t>
            </a:r>
            <a:r>
              <a:rPr sz="3200" b="1">
                <a:solidFill>
                  <a:srgbClr val="22D3EE"/>
                </a:solidFill>
                <a:latin typeface="Calibri"/>
              </a:rPr>
              <a:t>Autoactivación jamás.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828800"/>
            <a:ext cx="1115568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0">
                <a:solidFill>
                  <a:srgbClr val="CBD5E1"/>
                </a:solidFill>
                <a:latin typeface="Calibri"/>
              </a:rPr>
              <a:t>El comercio hace el trabajo del alta: llena sus datos, sube sus documentos, registra sus cuentas y pega su llave del banco.</a:t>
            </a:r>
          </a:p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sz="1900" b="0">
                <a:solidFill>
                  <a:srgbClr val="CBD5E1"/>
                </a:solidFill>
                <a:latin typeface="Calibri"/>
              </a:rPr>
              <a:t>Pero nada de eso lo vuelve operativo: </a:t>
            </a:r>
            <a:r>
              <a:rPr sz="1900" b="1">
                <a:solidFill>
                  <a:srgbClr val="FFFFFF"/>
                </a:solidFill>
                <a:latin typeface="Calibri"/>
              </a:rPr>
              <a:t>cada aprobación es nuestra</a:t>
            </a:r>
            <a:r>
              <a:rPr sz="1900" b="0">
                <a:solidFill>
                  <a:srgbClr val="CBD5E1"/>
                </a:solidFill>
                <a:latin typeface="Calibri"/>
              </a:rPr>
              <a:t>, y la activación final tiene guardas que el sistema no deja saltar.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3749039"/>
            <a:ext cx="3657600" cy="21031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931919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22D3EE"/>
                </a:solidFill>
                <a:latin typeface="Calibri"/>
              </a:rPr>
              <a:t>Lo que gana el comercio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434839"/>
            <a:ext cx="3200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CBD5E1"/>
                </a:solidFill>
                <a:latin typeface="Calibri"/>
              </a:rPr>
              <a:t>Alta en minutos, sin llamadas ni correos perdidos. Ve el estatus de todo, en su panel, con motivos claros cuando algo se rechaza.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3749039"/>
            <a:ext cx="3657600" cy="21031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3931919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22D3EE"/>
                </a:solidFill>
                <a:latin typeface="Calibri"/>
              </a:rPr>
              <a:t>Lo que ganamos nosotros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4434839"/>
            <a:ext cx="3200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CBD5E1"/>
                </a:solidFill>
                <a:latin typeface="Calibri"/>
              </a:rPr>
              <a:t>Cero carga de tipeo: el expediente llega armado. Nuestro trabajo queda en lo que importa — revisar, verificar contra el banco y decidir.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3749039"/>
            <a:ext cx="3657600" cy="21031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0" y="3931919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22D3EE"/>
                </a:solidFill>
                <a:latin typeface="Calibri"/>
              </a:rPr>
              <a:t>Lo que gana el negocio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4434839"/>
            <a:ext cx="3200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CBD5E1"/>
                </a:solidFill>
                <a:latin typeface="Calibri"/>
              </a:rPr>
              <a:t>El proceso escala: sirve igual para las 9 empresas del grupo que para el comercio nº 100 que se registre solo desde la web.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Calibri"/>
              </a:rPr>
              <a:t>ArmorPay · Un proyecto de VipSoft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77295" y="6400800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85855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FFFFFF"/>
                </a:solidFill>
                <a:latin typeface="Calibri"/>
              </a:rPr>
              <a:t>El ciclo de activación: </a:t>
            </a:r>
            <a:r>
              <a:rPr sz="3200" b="1">
                <a:solidFill>
                  <a:srgbClr val="22D3EE"/>
                </a:solidFill>
                <a:latin typeface="Calibri"/>
              </a:rPr>
              <a:t>cinco estados, un solo camino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71600"/>
            <a:ext cx="1118585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94A3B8"/>
                </a:solidFill>
                <a:latin typeface="Calibri"/>
              </a:rPr>
              <a:t>Sin saltos: cada paso deja constancia de una verificación real. Dos puertas de entrada, el mismo ciclo.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377440"/>
            <a:ext cx="2057400" cy="9601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2487168"/>
            <a:ext cx="1874519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22D3EE"/>
                </a:solidFill>
                <a:latin typeface="Calibri"/>
              </a:rPr>
              <a:t>REGISTRADO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474720"/>
            <a:ext cx="2057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4A3B8"/>
                </a:solidFill>
                <a:latin typeface="Calibri"/>
              </a:rPr>
              <a:t>El comercio creó su
cuenta desde la web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587751" y="2743200"/>
            <a:ext cx="219456" cy="22860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834640" y="2377440"/>
            <a:ext cx="2057400" cy="9601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0" y="2487168"/>
            <a:ext cx="1874519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22D3EE"/>
                </a:solidFill>
                <a:latin typeface="Calibri"/>
              </a:rPr>
              <a:t>RECAUDOS
COMPLETOS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3474720"/>
            <a:ext cx="2057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4A3B8"/>
                </a:solidFill>
                <a:latin typeface="Calibri"/>
              </a:rPr>
              <a:t>Expediente revisado
documento a documento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919471" y="2743200"/>
            <a:ext cx="219456" cy="22860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166360" y="2377440"/>
            <a:ext cx="2057400" cy="9601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57800" y="2487168"/>
            <a:ext cx="1874519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22D3EE"/>
                </a:solidFill>
                <a:latin typeface="Calibri"/>
              </a:rPr>
              <a:t>ENVIADA
AL BANCO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66360" y="3474720"/>
            <a:ext cx="2057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4A3B8"/>
                </a:solidFill>
                <a:latin typeface="Calibri"/>
              </a:rPr>
              <a:t>Solicitud de afiliación
cursada ante el banco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7251191" y="2743200"/>
            <a:ext cx="219456" cy="22860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498080" y="2377440"/>
            <a:ext cx="2057400" cy="9601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89520" y="2487168"/>
            <a:ext cx="1874519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22D3EE"/>
                </a:solidFill>
                <a:latin typeface="Calibri"/>
              </a:rPr>
              <a:t>CERTIFICACIÓN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0" y="3474720"/>
            <a:ext cx="2057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4A3B8"/>
                </a:solidFill>
                <a:latin typeface="Calibri"/>
              </a:rPr>
              <a:t>El banco afilió; la llave
se verifica en vivo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9582911" y="2743200"/>
            <a:ext cx="219456" cy="22860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829800" y="2377440"/>
            <a:ext cx="2057400" cy="9601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921240" y="2487168"/>
            <a:ext cx="1874519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4ADE80"/>
                </a:solidFill>
                <a:latin typeface="Calibri"/>
              </a:rPr>
              <a:t>ACTIVO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29800" y="3474720"/>
            <a:ext cx="2057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4A3B8"/>
                </a:solidFill>
                <a:latin typeface="Calibri"/>
              </a:rPr>
              <a:t>Sus cajas cobran y
su API responde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4846320"/>
            <a:ext cx="111556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Calibri"/>
              </a:rPr>
              <a:t>Estados laterales: </a:t>
            </a:r>
            <a:r>
              <a:rPr sz="1500" b="0">
                <a:solidFill>
                  <a:srgbClr val="CBD5E1"/>
                </a:solidFill>
                <a:latin typeface="Calibri"/>
              </a:rPr>
              <a:t>RECHAZADO</a:t>
            </a:r>
            <a:r>
              <a:rPr sz="1500" b="0">
                <a:solidFill>
                  <a:srgbClr val="CBD5E1"/>
                </a:solidFill>
                <a:latin typeface="Calibri"/>
              </a:rPr>
              <a:t> (antes de activar, siempre con motivo) y </a:t>
            </a:r>
            <a:r>
              <a:rPr sz="1500" b="0">
                <a:solidFill>
                  <a:srgbClr val="CBD5E1"/>
                </a:solidFill>
                <a:latin typeface="Calibri"/>
              </a:rPr>
              <a:t>SUSPENDIDO</a:t>
            </a:r>
            <a:r>
              <a:rPr sz="1500" b="0">
                <a:solidFill>
                  <a:srgbClr val="CBD5E1"/>
                </a:solidFill>
                <a:latin typeface="Calibri"/>
              </a:rPr>
              <a:t> (después de activo: nadie de ese comercio entra).</a:t>
            </a:r>
          </a:p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sz="1500" b="1">
                <a:solidFill>
                  <a:srgbClr val="FFFFFF"/>
                </a:solidFill>
                <a:latin typeface="Calibri"/>
              </a:rPr>
              <a:t>Dos puertas: </a:t>
            </a:r>
            <a:r>
              <a:rPr sz="1500" b="0">
                <a:solidFill>
                  <a:srgbClr val="CBD5E1"/>
                </a:solidFill>
                <a:latin typeface="Calibri"/>
              </a:rPr>
              <a:t>el registro público (/registro) o el alta manual desde nuestro panel — para las 9 empresas del grupo sirven las dos.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Calibri"/>
              </a:rPr>
              <a:t>ArmorPay · Un proyecto de VipSoft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77295" y="6400800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85855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94A3B8"/>
                </a:solidFill>
                <a:latin typeface="Calibri"/>
              </a:rPr>
              <a:t>Paso 1 — </a:t>
            </a:r>
            <a:r>
              <a:rPr sz="3200" b="1">
                <a:solidFill>
                  <a:srgbClr val="FFFFFF"/>
                </a:solidFill>
                <a:latin typeface="Calibri"/>
              </a:rPr>
              <a:t>Se registra solo, en dos minutos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71600"/>
            <a:ext cx="1118585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94A3B8"/>
                </a:solidFill>
                <a:latin typeface="Calibri"/>
              </a:rPr>
              <a:t>armorpay.net/registro — público, sin intervención nuestra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011680"/>
            <a:ext cx="5577840" cy="12344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148840"/>
            <a:ext cx="5120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22D3EE"/>
                </a:solidFill>
                <a:latin typeface="Calibri"/>
              </a:rPr>
              <a:t>Qué pide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560320"/>
            <a:ext cx="51206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BD5E1"/>
                </a:solidFill>
                <a:latin typeface="Calibri"/>
              </a:rPr>
              <a:t>Razón social, RIF, nombre del responsable, correo, y su propio usuario y contraseña.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3429000"/>
            <a:ext cx="5577840" cy="12344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566160"/>
            <a:ext cx="5120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22D3EE"/>
                </a:solidFill>
                <a:latin typeface="Calibri"/>
              </a:rPr>
              <a:t>El filtro de entrada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977640"/>
            <a:ext cx="51206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BD5E1"/>
                </a:solidFill>
                <a:latin typeface="Calibri"/>
              </a:rPr>
              <a:t>Solo personas jurídicas: RIF que empiece con J o G. Una firma personal no puede ni enviar el formulario — se le orienta en el momento.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4846320"/>
            <a:ext cx="5577840" cy="12344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5120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22D3EE"/>
                </a:solidFill>
                <a:latin typeface="Calibri"/>
              </a:rPr>
              <a:t>Qué se crea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394960"/>
            <a:ext cx="51206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BD5E1"/>
                </a:solidFill>
                <a:latin typeface="Calibri"/>
              </a:rPr>
              <a:t>Su organización (estado REGISTRADO), su sucursal Principal y su usuario administrador.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2011680"/>
            <a:ext cx="5257800" cy="406908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0" y="2240280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FBBF24"/>
                </a:solidFill>
                <a:latin typeface="Calibri"/>
              </a:rPr>
              <a:t>Lo importante para el negocio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2743200"/>
            <a:ext cx="475488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CBD5E1"/>
                </a:solidFill>
                <a:latin typeface="Calibri"/>
              </a:rPr>
              <a:t>Una cuenta recién registrada </a:t>
            </a:r>
            <a:r>
              <a:rPr sz="1500" b="1">
                <a:solidFill>
                  <a:srgbClr val="FFFFFF"/>
                </a:solidFill>
                <a:latin typeface="Calibri"/>
              </a:rPr>
              <a:t>no puede cobrar absolutamente nada</a:t>
            </a:r>
            <a:r>
              <a:rPr sz="1500" b="0">
                <a:solidFill>
                  <a:srgbClr val="CBD5E1"/>
                </a:solidFill>
                <a:latin typeface="Calibri"/>
              </a:rPr>
              <a:t>.</a:t>
            </a:r>
          </a:p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sz="1500" b="0">
                <a:solidFill>
                  <a:srgbClr val="CBD5E1"/>
                </a:solidFill>
                <a:latin typeface="Calibri"/>
              </a:rPr>
              <a:t>No ve pagos, su API no responde, sus cajas no operan.</a:t>
            </a:r>
          </a:p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sz="1500" b="0">
                <a:solidFill>
                  <a:srgbClr val="CBD5E1"/>
                </a:solidFill>
                <a:latin typeface="Calibri"/>
              </a:rPr>
              <a:t>Registrarse es gratis y sin riesgo para nosotros: lo peor que crea un bot es un expediente vacío (y además hay freno por IP y trampa anti-bots).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Calibri"/>
              </a:rPr>
              <a:t>ArmorPay · Un proyecto de VipSoft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77295" y="6400800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85855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94A3B8"/>
                </a:solidFill>
                <a:latin typeface="Calibri"/>
              </a:rPr>
              <a:t>Paso 2 — </a:t>
            </a:r>
            <a:r>
              <a:rPr sz="3200" b="1">
                <a:solidFill>
                  <a:srgbClr val="FFFFFF"/>
                </a:solidFill>
                <a:latin typeface="Calibri"/>
              </a:rPr>
              <a:t>Arma su expediente en su panel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71600"/>
            <a:ext cx="1118585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94A3B8"/>
                </a:solidFill>
                <a:latin typeface="Calibri"/>
              </a:rPr>
              <a:t>Su «paso a paso» de activación: tres cosas, todas autogestionadas, ninguna operativa hasta que aprobemos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965960"/>
            <a:ext cx="3657600" cy="39319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167128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22D3EE"/>
                </a:solidFill>
                <a:latin typeface="Calibri"/>
              </a:rPr>
              <a:t>1 · Sus documentos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743200"/>
            <a:ext cx="3200400" cy="3017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22D3EE"/>
                </a:solidFill>
                <a:latin typeface="Calibri"/>
              </a:rPr>
              <a:t>· </a:t>
            </a:r>
            <a:r>
              <a:rPr sz="1350" b="0">
                <a:solidFill>
                  <a:srgbClr val="CBD5E1"/>
                </a:solidFill>
                <a:latin typeface="Calibri"/>
              </a:rPr>
              <a:t>RIF, registro mercantil y cédula del representante.</a:t>
            </a:r>
          </a:p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sz="1350" b="1">
                <a:solidFill>
                  <a:srgbClr val="22D3EE"/>
                </a:solidFill>
                <a:latin typeface="Calibri"/>
              </a:rPr>
              <a:t>· </a:t>
            </a:r>
            <a:r>
              <a:rPr sz="1350" b="0">
                <a:solidFill>
                  <a:srgbClr val="CBD5E1"/>
                </a:solidFill>
                <a:latin typeface="Calibri"/>
              </a:rPr>
              <a:t>PDF o foto, hasta 2 MB, validados por contenido real (no por el nombre del archivo).</a:t>
            </a:r>
          </a:p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sz="1350" b="1">
                <a:solidFill>
                  <a:srgbClr val="22D3EE"/>
                </a:solidFill>
                <a:latin typeface="Calibri"/>
              </a:rPr>
              <a:t>· </a:t>
            </a:r>
            <a:r>
              <a:rPr sz="1350" b="0">
                <a:solidFill>
                  <a:srgbClr val="CBD5E1"/>
                </a:solidFill>
                <a:latin typeface="Calibri"/>
              </a:rPr>
              <a:t>Si rechazamos uno, ve el MOTIVO y lo vuelve a subir — la corrección se revisa de nuevo.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965960"/>
            <a:ext cx="3657600" cy="39319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2167128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22D3EE"/>
                </a:solidFill>
                <a:latin typeface="Calibri"/>
              </a:rPr>
              <a:t>2 · Sus cuentas bancarias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2743200"/>
            <a:ext cx="3200400" cy="3017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22D3EE"/>
                </a:solidFill>
                <a:latin typeface="Calibri"/>
              </a:rPr>
              <a:t>· </a:t>
            </a:r>
            <a:r>
              <a:rPr sz="1350" b="0">
                <a:solidFill>
                  <a:srgbClr val="CBD5E1"/>
                </a:solidFill>
                <a:latin typeface="Calibri"/>
              </a:rPr>
              <a:t>Registra las cuentas de la empresa donde recibe pagos.</a:t>
            </a:r>
          </a:p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sz="1350" b="1">
                <a:solidFill>
                  <a:srgbClr val="22D3EE"/>
                </a:solidFill>
                <a:latin typeface="Calibri"/>
              </a:rPr>
              <a:t>· </a:t>
            </a:r>
            <a:r>
              <a:rPr sz="1350" b="0">
                <a:solidFill>
                  <a:srgbClr val="CBD5E1"/>
                </a:solidFill>
                <a:latin typeface="Calibri"/>
              </a:rPr>
              <a:t>Nacen «por aprobar»: no se les atribuye NI UN pago hasta que nosotros aprobemos.</a:t>
            </a:r>
          </a:p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sz="1350" b="1">
                <a:solidFill>
                  <a:srgbClr val="22D3EE"/>
                </a:solidFill>
                <a:latin typeface="Calibri"/>
              </a:rPr>
              <a:t>· </a:t>
            </a:r>
            <a:r>
              <a:rPr sz="1350" b="0">
                <a:solidFill>
                  <a:srgbClr val="CBD5E1"/>
                </a:solidFill>
                <a:latin typeface="Calibri"/>
              </a:rPr>
              <a:t>Una cuenta ya registrada en la plataforma no se puede duplicar.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1965960"/>
            <a:ext cx="3657600" cy="39319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0" y="2167128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22D3EE"/>
                </a:solidFill>
                <a:latin typeface="Calibri"/>
              </a:rPr>
              <a:t>3 · Su Llave de Trabajo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2743200"/>
            <a:ext cx="3200400" cy="3017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22D3EE"/>
                </a:solidFill>
                <a:latin typeface="Calibri"/>
              </a:rPr>
              <a:t>· </a:t>
            </a:r>
            <a:r>
              <a:rPr sz="1350" b="0">
                <a:solidFill>
                  <a:srgbClr val="CBD5E1"/>
                </a:solidFill>
                <a:latin typeface="Calibri"/>
              </a:rPr>
              <a:t>La credencial que el banco le emite a SU RIF: la pega él, porque es suya.</a:t>
            </a:r>
          </a:p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sz="1350" b="1">
                <a:solidFill>
                  <a:srgbClr val="22D3EE"/>
                </a:solidFill>
                <a:latin typeface="Calibri"/>
              </a:rPr>
              <a:t>· </a:t>
            </a:r>
            <a:r>
              <a:rPr sz="1350" b="0">
                <a:solidFill>
                  <a:srgbClr val="CBD5E1"/>
                </a:solidFill>
                <a:latin typeface="Calibri"/>
              </a:rPr>
              <a:t>Se guarda cifrada y no se vuelve a mostrar completa.</a:t>
            </a:r>
          </a:p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sz="1350" b="1">
                <a:solidFill>
                  <a:srgbClr val="22D3EE"/>
                </a:solidFill>
                <a:latin typeface="Calibri"/>
              </a:rPr>
              <a:t>· </a:t>
            </a:r>
            <a:r>
              <a:rPr sz="1350" b="0">
                <a:solidFill>
                  <a:srgbClr val="CBD5E1"/>
                </a:solidFill>
                <a:latin typeface="Calibri"/>
              </a:rPr>
              <a:t>Queda «cargada»: verificarla contra el banco es NUESTRA certificación.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Calibri"/>
              </a:rPr>
              <a:t>ArmorPay · Un proyecto de VipSoft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77295" y="6400800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85855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94A3B8"/>
                </a:solidFill>
                <a:latin typeface="Calibri"/>
              </a:rPr>
              <a:t>Dos maneras de llegar — </a:t>
            </a:r>
            <a:r>
              <a:rPr sz="3200" b="1">
                <a:solidFill>
                  <a:srgbClr val="FFFFFF"/>
                </a:solidFill>
                <a:latin typeface="Calibri"/>
              </a:rPr>
              <a:t>una sola solución completa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71600"/>
            <a:ext cx="1118585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94A3B8"/>
                </a:solidFill>
                <a:latin typeface="Calibri"/>
              </a:rPr>
              <a:t>Con banco o sin banco: nadie queda fuera por no conocer el trámite bancario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965960"/>
            <a:ext cx="5577840" cy="32918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194560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22D3EE"/>
                </a:solidFill>
                <a:latin typeface="Calibri"/>
              </a:rPr>
              <a:t>Ya tiene todo con el banco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743200"/>
            <a:ext cx="502920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CBD5E1"/>
                </a:solidFill>
                <a:latin typeface="Calibri"/>
              </a:rPr>
              <a:t>Llegó con su afiliación de pago móvil empresarial: credenciales y Llave de Trabajo emitidas a su RIF.</a:t>
            </a:r>
          </a:p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sz="1400" b="0">
                <a:solidFill>
                  <a:srgbClr val="CBD5E1"/>
                </a:solidFill>
                <a:latin typeface="Calibri"/>
              </a:rPr>
              <a:t>Aun así hay un paso previo ante el banco: </a:t>
            </a:r>
            <a:r>
              <a:rPr sz="1400" b="1">
                <a:solidFill>
                  <a:srgbClr val="FFFFFF"/>
                </a:solidFill>
                <a:latin typeface="Calibri"/>
              </a:rPr>
              <a:t>autorizar que sus credenciales operen desde NUESTRA infraestructura</a:t>
            </a:r>
            <a:r>
              <a:rPr sz="1400" b="0">
                <a:solidFill>
                  <a:srgbClr val="CBD5E1"/>
                </a:solidFill>
                <a:latin typeface="Calibri"/>
              </a:rPr>
              <a:t> (la IP autorizada) y apuntar las notificaciones de sus pagos a nuestro receptor.</a:t>
            </a:r>
          </a:p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sz="1400" b="1">
                <a:solidFill>
                  <a:srgbClr val="FFFFFF"/>
                </a:solidFill>
                <a:latin typeface="Calibri"/>
              </a:rPr>
              <a:t>Es el caso de las 9 empresas del grupo — su vinculación ya existe.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965960"/>
            <a:ext cx="5257800" cy="32918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2194560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4ADE80"/>
                </a:solidFill>
                <a:latin typeface="Calibri"/>
              </a:rPr>
              <a:t>No tiene nada — lo gestionamos NOSOTROS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2743200"/>
            <a:ext cx="475488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CBD5E1"/>
                </a:solidFill>
                <a:latin typeface="Calibri"/>
              </a:rPr>
              <a:t>Elige «gestiónenla por mí» en su panel y nosotros tramitamos TODO contra el banco: la afiliación, las credenciales y su llave.</a:t>
            </a:r>
          </a:p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sz="1500" b="0">
                <a:solidFill>
                  <a:srgbClr val="CBD5E1"/>
                </a:solidFill>
                <a:latin typeface="Calibri"/>
              </a:rPr>
              <a:t>Su ciclo espera en «enviada al banco» mientras trabajamos — y él ve cada avance reflejado en su paso a paso.</a:t>
            </a:r>
          </a:p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sz="1500" b="1">
                <a:solidFill>
                  <a:srgbClr val="FFFFFF"/>
                </a:solidFill>
                <a:latin typeface="Calibri"/>
              </a:rPr>
              <a:t>Este es el servicio completo que vendemos desde el día uno.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5486400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FFFFFF"/>
                </a:solidFill>
                <a:latin typeface="Calibri"/>
              </a:rPr>
              <a:t>Por eso «enviada al banco» existe en LOS DOS escenarios: </a:t>
            </a:r>
            <a:r>
              <a:rPr sz="1350" b="0">
                <a:solidFill>
                  <a:srgbClr val="94A3B8"/>
                </a:solidFill>
                <a:latin typeface="Calibri"/>
              </a:rPr>
              <a:t>en uno es el trámite completo; en el otro, la vinculación de sus credenciales con nuestra plataforma. El comercio declara su escenario en su panel y la ficha se lo marca a nuestro equipo.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Calibri"/>
              </a:rPr>
              <a:t>ArmorPay · Un proyecto de VipSoft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77295" y="6400800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85855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94A3B8"/>
                </a:solidFill>
                <a:latin typeface="Calibri"/>
              </a:rPr>
              <a:t>Quién aprueba — </a:t>
            </a:r>
            <a:r>
              <a:rPr sz="3200" b="1">
                <a:solidFill>
                  <a:srgbClr val="FFFFFF"/>
                </a:solidFill>
                <a:latin typeface="Calibri"/>
              </a:rPr>
              <a:t>un rol específico para revisar expedientes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71600"/>
            <a:ext cx="1118585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94A3B8"/>
                </a:solidFill>
                <a:latin typeface="Calibri"/>
              </a:rPr>
              <a:t>Empleado nuestro con permisos exactos para ese trabajo: ni más, ni menos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965960"/>
            <a:ext cx="5577840" cy="39319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194560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4ADE80"/>
                </a:solidFill>
                <a:latin typeface="Calibri"/>
              </a:rPr>
              <a:t>La revisora PUEDE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743200"/>
            <a:ext cx="5029200" cy="3017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4ADE80"/>
                </a:solidFill>
                <a:latin typeface="Calibri"/>
              </a:rPr>
              <a:t>· </a:t>
            </a:r>
            <a:r>
              <a:rPr sz="1500" b="0">
                <a:solidFill>
                  <a:srgbClr val="CBD5E1"/>
                </a:solidFill>
                <a:latin typeface="Calibri"/>
              </a:rPr>
              <a:t>Ver las solicitudes y los comercios.</a:t>
            </a:r>
          </a:p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sz="1500" b="1">
                <a:solidFill>
                  <a:srgbClr val="4ADE80"/>
                </a:solidFill>
                <a:latin typeface="Calibri"/>
              </a:rPr>
              <a:t>· </a:t>
            </a:r>
            <a:r>
              <a:rPr sz="1500" b="0">
                <a:solidFill>
                  <a:srgbClr val="CBD5E1"/>
                </a:solidFill>
                <a:latin typeface="Calibri"/>
              </a:rPr>
              <a:t>Aprobar o rechazar cada documento — el rechazo lleva SIEMPRE el motivo, para guiar al comercio.</a:t>
            </a:r>
          </a:p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sz="1500" b="1">
                <a:solidFill>
                  <a:srgbClr val="4ADE80"/>
                </a:solidFill>
                <a:latin typeface="Calibri"/>
              </a:rPr>
              <a:t>· </a:t>
            </a:r>
            <a:r>
              <a:rPr sz="1500" b="0">
                <a:solidFill>
                  <a:srgbClr val="CBD5E1"/>
                </a:solidFill>
                <a:latin typeface="Calibri"/>
              </a:rPr>
              <a:t>Aprobar cuentas bancarias registradas.</a:t>
            </a:r>
          </a:p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sz="1500" b="1">
                <a:solidFill>
                  <a:srgbClr val="4ADE80"/>
                </a:solidFill>
                <a:latin typeface="Calibri"/>
              </a:rPr>
              <a:t>· </a:t>
            </a:r>
            <a:r>
              <a:rPr sz="1500" b="0">
                <a:solidFill>
                  <a:srgbClr val="CBD5E1"/>
                </a:solidFill>
                <a:latin typeface="Calibri"/>
              </a:rPr>
              <a:t>Avanzar el ciclo: recaudos completos → enviada al banco → certificación.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965960"/>
            <a:ext cx="5257800" cy="39319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2194560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F87171"/>
                </a:solidFill>
                <a:latin typeface="Calibri"/>
              </a:rPr>
              <a:t>La revisora NO PUEDE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2743200"/>
            <a:ext cx="4754880" cy="3017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94A3B8"/>
                </a:solidFill>
                <a:latin typeface="Calibri"/>
              </a:rPr>
              <a:t>· </a:t>
            </a:r>
            <a:r>
              <a:rPr sz="1500" b="0">
                <a:solidFill>
                  <a:srgbClr val="CBD5E1"/>
                </a:solidFill>
                <a:latin typeface="Calibri"/>
              </a:rPr>
              <a:t>Activar un comercio (ni rechazarlo entero).</a:t>
            </a:r>
          </a:p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sz="1500" b="1">
                <a:solidFill>
                  <a:srgbClr val="94A3B8"/>
                </a:solidFill>
                <a:latin typeface="Calibri"/>
              </a:rPr>
              <a:t>· </a:t>
            </a:r>
            <a:r>
              <a:rPr sz="1500" b="0">
                <a:solidFill>
                  <a:srgbClr val="CBD5E1"/>
                </a:solidFill>
                <a:latin typeface="Calibri"/>
              </a:rPr>
              <a:t>Tocar Llaves de Trabajo.</a:t>
            </a:r>
          </a:p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sz="1500" b="1">
                <a:solidFill>
                  <a:srgbClr val="94A3B8"/>
                </a:solidFill>
                <a:latin typeface="Calibri"/>
              </a:rPr>
              <a:t>· </a:t>
            </a:r>
            <a:r>
              <a:rPr sz="1500" b="0">
                <a:solidFill>
                  <a:srgbClr val="CBD5E1"/>
                </a:solidFill>
                <a:latin typeface="Calibri"/>
              </a:rPr>
              <a:t>Crear o desactivar usuarios.</a:t>
            </a:r>
          </a:p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sz="1500" b="1">
                <a:solidFill>
                  <a:srgbClr val="94A3B8"/>
                </a:solidFill>
                <a:latin typeface="Calibri"/>
              </a:rPr>
              <a:t>· </a:t>
            </a:r>
            <a:r>
              <a:rPr sz="1500" b="0">
                <a:solidFill>
                  <a:srgbClr val="CBD5E1"/>
                </a:solidFill>
                <a:latin typeface="Calibri"/>
              </a:rPr>
              <a:t>Entrar a las secciones administrativas — ni tecleando la dirección a mano.</a:t>
            </a:r>
          </a:p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sz="1500" b="1">
                <a:solidFill>
                  <a:srgbClr val="FFFFFF"/>
                </a:solidFill>
                <a:latin typeface="Calibri"/>
              </a:rPr>
              <a:t>El sistema lo impide; no depende de la confianza.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Calibri"/>
              </a:rPr>
              <a:t>ArmorPay · Un proyecto de VipSoft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77295" y="6400800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85855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94A3B8"/>
                </a:solidFill>
                <a:latin typeface="Calibri"/>
              </a:rPr>
              <a:t>El paso final — </a:t>
            </a:r>
            <a:r>
              <a:rPr sz="3200" b="1">
                <a:solidFill>
                  <a:srgbClr val="FFFFFF"/>
                </a:solidFill>
                <a:latin typeface="Calibri"/>
              </a:rPr>
              <a:t>Activar es decisión del administrador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71600"/>
            <a:ext cx="1118585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94A3B8"/>
                </a:solidFill>
                <a:latin typeface="Calibri"/>
              </a:rPr>
              <a:t>Y ni el administrador puede activar a medias: el botón exige lo duro de verdad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103120"/>
            <a:ext cx="3657600" cy="201168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2331720"/>
            <a:ext cx="1005840" cy="347472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/>
            <a:r>
              <a:rPr sz="1100" b="1">
                <a:solidFill>
                  <a:srgbClr val="FBBF24"/>
                </a:solidFill>
                <a:latin typeface="Calibri"/>
              </a:rPr>
              <a:t>REQUISITO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788920"/>
            <a:ext cx="3200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FFFFFF"/>
                </a:solidFill>
                <a:latin typeface="Calibri"/>
              </a:rPr>
              <a:t>Cuenta bancaria activa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291840"/>
            <a:ext cx="32004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CBD5E1"/>
                </a:solidFill>
                <a:latin typeface="Calibri"/>
              </a:rPr>
              <a:t>Al menos una cuenta aprobada. Sin ella, sus cajas no verían pagos.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2103120"/>
            <a:ext cx="3657600" cy="201168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617720" y="2331720"/>
            <a:ext cx="1005840" cy="347472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/>
            <a:r>
              <a:rPr sz="1100" b="1">
                <a:solidFill>
                  <a:srgbClr val="FBBF24"/>
                </a:solidFill>
                <a:latin typeface="Calibri"/>
              </a:rPr>
              <a:t>REQUISITO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2788920"/>
            <a:ext cx="3200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FFFFFF"/>
                </a:solidFill>
                <a:latin typeface="Calibri"/>
              </a:rPr>
              <a:t>Llave verificada EN VIVO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3291840"/>
            <a:ext cx="32004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CBD5E1"/>
                </a:solidFill>
                <a:latin typeface="Calibri"/>
              </a:rPr>
              <a:t>No un checkbox: una prueba real contra el banco (echo-test) que responde en el momento. Si el banco no la acepta, no hay activación.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75320" y="2103120"/>
            <a:ext cx="3657600" cy="201168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503920" y="2331720"/>
            <a:ext cx="1005840" cy="347472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/>
            <a:r>
              <a:rPr sz="1100" b="1">
                <a:solidFill>
                  <a:srgbClr val="FBBF24"/>
                </a:solidFill>
                <a:latin typeface="Calibri"/>
              </a:rPr>
              <a:t>REQUISITO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2788920"/>
            <a:ext cx="3200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FFFFFF"/>
                </a:solidFill>
                <a:latin typeface="Calibri"/>
              </a:rPr>
              <a:t>Administrador creado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3291840"/>
            <a:ext cx="32004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CBD5E1"/>
                </a:solidFill>
                <a:latin typeface="Calibri"/>
              </a:rPr>
              <a:t>Alguien del comercio que responda por la operación.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709160"/>
            <a:ext cx="111556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CBD5E1"/>
                </a:solidFill>
                <a:latin typeface="Calibri"/>
              </a:rPr>
              <a:t>El C2P del Tesoro y el logo son opcionales para activar: un comercio puede operar solo con validación por referencia y prenderse el C2P después, cuando su banco confirme la afiliación.</a:t>
            </a:r>
          </a:p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sz="1500" b="1">
                <a:solidFill>
                  <a:srgbClr val="FFFFFF"/>
                </a:solidFill>
                <a:latin typeface="Calibri"/>
              </a:rPr>
              <a:t>Al activar: </a:t>
            </a:r>
            <a:r>
              <a:rPr sz="1500" b="0">
                <a:solidFill>
                  <a:srgbClr val="CBD5E1"/>
                </a:solidFill>
                <a:latin typeface="Calibri"/>
              </a:rPr>
              <a:t>sus cajas cobran, su API responde, y su marca aparece en su panel y en su página de pago.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Calibri"/>
              </a:rPr>
              <a:t>ArmorPay · Un proyecto de VipSoft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77295" y="6400800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85855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94A3B8"/>
                </a:solidFill>
                <a:latin typeface="Calibri"/>
              </a:rPr>
              <a:t>Mientras no esté activo — </a:t>
            </a:r>
            <a:r>
              <a:rPr sz="3200" b="1">
                <a:solidFill>
                  <a:srgbClr val="FFFFFF"/>
                </a:solidFill>
                <a:latin typeface="Calibri"/>
              </a:rPr>
              <a:t>nadie opera a ciegas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71600"/>
            <a:ext cx="1118585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94A3B8"/>
                </a:solidFill>
                <a:latin typeface="Calibri"/>
              </a:rPr>
              <a:t>Cada rol ve exactamente lo que necesita según el estado del comercio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103120"/>
            <a:ext cx="11155680" cy="109728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267712"/>
            <a:ext cx="32918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22D3EE"/>
                </a:solidFill>
                <a:latin typeface="Calibri"/>
              </a:rPr>
              <a:t>El dueño entra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2267712"/>
            <a:ext cx="72237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>
                <a:solidFill>
                  <a:srgbClr val="CBD5E1"/>
                </a:solidFill>
                <a:latin typeface="Calibri"/>
              </a:rPr>
              <a:t>Va directo a su paso a paso de activación: qué subió, qué falta, qué está en revisión y por qué.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3383280"/>
            <a:ext cx="11155680" cy="109728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547872"/>
            <a:ext cx="32918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22D3EE"/>
                </a:solidFill>
                <a:latin typeface="Calibri"/>
              </a:rPr>
              <a:t>Una caja entra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0" y="3547872"/>
            <a:ext cx="72237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>
                <a:solidFill>
                  <a:srgbClr val="CBD5E1"/>
                </a:solidFill>
                <a:latin typeface="Calibri"/>
              </a:rPr>
              <a:t>Ve «tu comercio todavía no está activo» con la explicación — en vez de buscar pagos contra una pared.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4663440"/>
            <a:ext cx="11155680" cy="109728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4828032"/>
            <a:ext cx="32918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22D3EE"/>
                </a:solidFill>
                <a:latin typeface="Calibri"/>
              </a:rPr>
              <a:t>Alguien intenta cobrar por la API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0" y="4828032"/>
            <a:ext cx="72237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>
                <a:solidFill>
                  <a:srgbClr val="CBD5E1"/>
                </a:solidFill>
                <a:latin typeface="Calibri"/>
              </a:rPr>
              <a:t>La llave de API no autentica: el comercio no está activo. Respuesta clara, no un error críptico.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Calibri"/>
              </a:rPr>
              <a:t>ArmorPay · Un proyecto de VipSoft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77295" y="6400800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85855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94A3B8"/>
                </a:solidFill>
                <a:latin typeface="Calibri"/>
              </a:rPr>
              <a:t>En la práctica — </a:t>
            </a:r>
            <a:r>
              <a:rPr sz="3200" b="1">
                <a:solidFill>
                  <a:srgbClr val="FFFFFF"/>
                </a:solidFill>
                <a:latin typeface="Calibri"/>
              </a:rPr>
              <a:t>quién hace qué, en orden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71600"/>
            <a:ext cx="1118585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94A3B8"/>
                </a:solidFill>
                <a:latin typeface="Calibri"/>
              </a:rPr>
              <a:t>El mismo circuito sirve para el comercio nº 100 y para las 9 empresas del grupo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057400"/>
            <a:ext cx="11155680" cy="86868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2313432"/>
            <a:ext cx="2011680" cy="347472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/>
            <a:r>
              <a:rPr sz="1200" b="1">
                <a:solidFill>
                  <a:srgbClr val="22D3EE"/>
                </a:solidFill>
                <a:latin typeface="Calibri"/>
              </a:rPr>
              <a:t>EL COMERCIO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0" y="2148840"/>
            <a:ext cx="84124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>
                <a:solidFill>
                  <a:srgbClr val="CBD5E1"/>
                </a:solidFill>
                <a:latin typeface="Calibri"/>
              </a:rPr>
              <a:t>Se registra y arma su expediente: documentos, cuentas, llave.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3044952"/>
            <a:ext cx="11155680" cy="86868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3300984"/>
            <a:ext cx="2011680" cy="347472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/>
            <a:r>
              <a:rPr sz="1200" b="1">
                <a:solidFill>
                  <a:srgbClr val="22D3EE"/>
                </a:solidFill>
                <a:latin typeface="Calibri"/>
              </a:rPr>
              <a:t>LA REVISORA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3136392"/>
            <a:ext cx="84124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>
                <a:solidFill>
                  <a:srgbClr val="CBD5E1"/>
                </a:solidFill>
                <a:latin typeface="Calibri"/>
              </a:rPr>
              <a:t>Aprueba documento a documento y las cuentas; avanza el ciclo hasta dejar el expediente listo.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4032504"/>
            <a:ext cx="11155680" cy="86868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1520" y="4288536"/>
            <a:ext cx="2011680" cy="347472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/>
            <a:r>
              <a:rPr sz="1200" b="1">
                <a:solidFill>
                  <a:srgbClr val="22D3EE"/>
                </a:solidFill>
                <a:latin typeface="Calibri"/>
              </a:rPr>
              <a:t>EL BANCO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4123944"/>
            <a:ext cx="84124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>
                <a:solidFill>
                  <a:srgbClr val="CBD5E1"/>
                </a:solidFill>
                <a:latin typeface="Calibri"/>
              </a:rPr>
              <a:t>Afilia el pago móvil empresarial; nosotros verificamos la llave en vivo (certificación).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5020056"/>
            <a:ext cx="11155680" cy="86868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31520" y="5276088"/>
            <a:ext cx="2011680" cy="347472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/>
            <a:r>
              <a:rPr sz="1200" b="1">
                <a:solidFill>
                  <a:srgbClr val="4ADE80"/>
                </a:solidFill>
                <a:latin typeface="Calibri"/>
              </a:rPr>
              <a:t>EL ADMINISTRADOR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5111496"/>
            <a:ext cx="84124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>
                <a:solidFill>
                  <a:srgbClr val="CBD5E1"/>
                </a:solidFill>
                <a:latin typeface="Calibri"/>
              </a:rPr>
              <a:t>Da el paso final: ACTIVAR — con las guardas duras cumplidas.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099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94A3B8"/>
                </a:solidFill>
                <a:latin typeface="Calibri"/>
              </a:rPr>
              <a:t>Para las empresas del grupo, además, podemos cargar todo desde nuestro panel (alta manual) — las dos puertas terminan en el mismo ciclo y con las mismas guardas.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Calibri"/>
              </a:rPr>
              <a:t>ArmorPay · Un proyecto de VipSoft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77295" y="6400800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85855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94A3B8"/>
                </a:solidFill>
                <a:latin typeface="Calibri"/>
              </a:rPr>
              <a:t>Estado real — </a:t>
            </a:r>
            <a:r>
              <a:rPr sz="3200" b="1">
                <a:solidFill>
                  <a:srgbClr val="FFFFFF"/>
                </a:solidFill>
                <a:latin typeface="Calibri"/>
              </a:rPr>
              <a:t>esto no es un plan: está en producción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71600"/>
            <a:ext cx="1118585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94A3B8"/>
                </a:solidFill>
                <a:latin typeface="Calibri"/>
              </a:rPr>
              <a:t>Construido, desplegado y probado el 6 de agosto de 2026 · cero cifras inventadas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057400"/>
            <a:ext cx="11155680" cy="11887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194560"/>
            <a:ext cx="356616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22D3EE"/>
                </a:solidFill>
                <a:latin typeface="Calibri"/>
              </a:rPr>
              <a:t>Todo el flujo desplegado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80560" y="2194560"/>
            <a:ext cx="694944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CBD5E1"/>
                </a:solidFill>
                <a:latin typeface="Calibri"/>
              </a:rPr>
              <a:t>Registro público, panel de activación, revisión de expedientes, ciclo con guardas y rol de revisora — en armorpay.net hoy.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3429000"/>
            <a:ext cx="11155680" cy="11887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566160"/>
            <a:ext cx="356616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22D3EE"/>
                </a:solidFill>
                <a:latin typeface="Calibri"/>
              </a:rPr>
              <a:t>Probado de punta a punta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3566160"/>
            <a:ext cx="694944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CBD5E1"/>
                </a:solidFill>
                <a:latin typeface="Calibri"/>
              </a:rPr>
              <a:t>Pruebas automáticas contra el servidor vivo: login real de una cuenta recién registrada, aislamiento entre comercios (un comercio NO ve el expediente de otro), y las fronteras del rol de revisora.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4800600"/>
            <a:ext cx="11155680" cy="11887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4937760"/>
            <a:ext cx="356616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22D3EE"/>
                </a:solidFill>
                <a:latin typeface="Calibri"/>
              </a:rPr>
              <a:t>Lo que sigue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4937760"/>
            <a:ext cx="694944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CBD5E1"/>
                </a:solidFill>
                <a:latin typeface="Calibri"/>
              </a:rPr>
              <a:t>Registrar la primera empresa del grupo (la que ya tiene aprobación del Tesoro), recorrer el circuito completo y cerrar la prueba con dinero real: un pago móvil y un cobro C2P de monto mínimo.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Calibri"/>
              </a:rPr>
              <a:t>ArmorPay · Un proyecto de VipSoft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77295" y="6400800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