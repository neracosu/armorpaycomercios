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PLATAFORMA DE VALIDACIÓN DE PAGOS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Armor</a:t>
            </a:r>
            <a:r>
              <a:rPr sz="5400" b="1">
                <a:solidFill>
                  <a:srgbClr val="22D3EE"/>
                </a:solidFill>
                <a:latin typeface="Calibri"/>
              </a:rPr>
              <a:t>Pay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CBD5E1"/>
                </a:solidFill>
                <a:latin typeface="Calibri"/>
              </a:rPr>
              <a:t>De sistema interno a producto de VipSoft.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029200"/>
            <a:ext cx="2926080" cy="2743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Propuesta para Dirección y socios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Confidencial ·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149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Ya resolvimos lo difícil.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22D3EE"/>
                </a:solidFill>
                <a:latin typeface="Calibri"/>
              </a:rPr>
              <a:t>Ahora lo convertimos en producto.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48056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ArmorPay valida pagos del banco en segundos, con antifraude a nivel de base de datos, y opera en producción desde junio. Esto ya funciona. La propuesta es venderlo.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alibri"/>
              </a:rPr>
              <a:t>EL DOLOR, TODOS LOS DÍAS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Calibri"/>
              </a:rPr>
              <a:t>Hoy, confirmar un pago móvil es un problema de confianza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3429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3429000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La captura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“Ya te pagué, mira la captura.” Una imagen se edita en treinta segundos. Puede ser de ayer, de otro comercio, o falsa.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35424" y="2377440"/>
            <a:ext cx="3429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35424" y="2377440"/>
            <a:ext cx="3429000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26974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El mensaje del banco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342900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A veces llega tarde. A veces no llega. Y también se falsifica. Confiar en un SMS es el mismo error que confiar en la captura.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2377440"/>
            <a:ext cx="3429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2377440"/>
            <a:ext cx="3429000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26974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E293B"/>
                </a:solidFill>
                <a:latin typeface="Calibri"/>
              </a:rPr>
              <a:t>El cuello de botella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42900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La cajera no tiene acceso a la cuenta. Llama al dueño, el cliente espera parado, y el dueño termina atendiendo pagos todo el día.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El comercio necesita preguntarle al banco, no a la pantalla del cliente. Eso es exactamente lo que hace ArmorPay.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alibri"/>
              </a:rPr>
              <a:t>NO ARRANCAMOS DE CERO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Calibri"/>
              </a:rPr>
              <a:t>Ya opera en producción, con tráfico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4290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Calibri"/>
              </a:rPr>
              <a:t>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operando en producción, sin interrupciones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5424" y="2331720"/>
            <a:ext cx="34290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56032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9744" y="3246120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empresas afiliadas al banco bajo un mismo enlace técnico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2331720"/>
            <a:ext cx="34290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256032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Calibri"/>
              </a:rPr>
              <a:t>56 / día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3246120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validaciones promedio (pico de 151 en un día)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06240"/>
            <a:ext cx="34290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Calibri"/>
              </a:rPr>
              <a:t>1.477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cobros reales registrados por las cajas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5424" y="4206240"/>
            <a:ext cx="34290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44348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Calibri"/>
              </a:rPr>
              <a:t>549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5120640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en consultar el estado de cuenta al banco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47888" y="4206240"/>
            <a:ext cx="34290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44348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120640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incidentes de doble cobro o fuga entre empresas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75569"/>
                </a:solidFill>
                <a:latin typeface="Calibri"/>
              </a:rPr>
              <a:t>Datos de la operación actual de Armor Market y su grupo. La relación con la mesa técnica del banco es un activo que la competencia no puede fabricar.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alibri"/>
              </a:rPr>
              <a:t>DÓNDE JUGAMOS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Calibri"/>
              </a:rPr>
              <a:t>El mercado ya existe. El hueco también.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El pago móvil es el segundo medio de pago en bolívares. Hay verificadores, pero atienden e-commerce: </a:t>
            </a:r>
            <a:r>
              <a:rPr sz="1500" b="1">
                <a:solidFill>
                  <a:srgbClr val="1E293B"/>
                </a:solidFill>
                <a:latin typeface="Calibri"/>
              </a:rPr>
              <a:t>nadie gobierna el cobro del retail físico con cajas y sucursales.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05156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9125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Competidor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3191256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Qué hace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191256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BD5E1"/>
                </a:solidFill>
                <a:latin typeface="Calibri"/>
              </a:rPr>
              <a:t>Debilidad frente a nosotros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21608"/>
            <a:ext cx="10515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4962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Calibri"/>
              </a:rPr>
              <a:t>MovilPay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849624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Suite de cobros, ya sobre el mismo banco (BDT)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849624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Foco genérico, sin capa multi-caja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79976"/>
            <a:ext cx="10515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0799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Calibri"/>
              </a:rPr>
              <a:t>VerificaPago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507992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Verifica pago móvil · $15–$60/mes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50799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Para e-commerce, sin turnos ni cierres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038344"/>
            <a:ext cx="10515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66359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Calibri"/>
              </a:rPr>
              <a:t>PagoListo / Pabilo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5166359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Verificación + conciliación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166359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Sin operación de retail físico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POR QUÉ NOS ELIGEN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Verificar el pago es la mitad. La otra mitad es la caja.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Las herramientas del mercado te dicen si el pago llegó y ahí terminan. Un comercio con mostrador tiene cajeras, turnos, cierres y un dueño que necesita saber quién cobró qué.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57600"/>
            <a:ext cx="10515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22D3EE"/>
                </a:solidFill>
                <a:latin typeface="Calibri"/>
              </a:rPr>
              <a:t>“Tu cajera confirma sola. Sin ver tu cuenta, sin tu clave, sin llamarte.”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Ve una sola cosa: si ese pago entró o no. No tu saldo, no tus otros movimientos, no lo de las otras cajas.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349240"/>
            <a:ext cx="2542032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6811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Aislamiento por caja y sucursal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5349240"/>
            <a:ext cx="2542032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546811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Turnos con cierre 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5349240"/>
            <a:ext cx="2542032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546811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Antifraude de doble cobro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5349240"/>
            <a:ext cx="2542032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546811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Te tramitamos la afiliación al banco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alibri"/>
              </a:rPr>
              <a:t>EL PRODUCTO, YA EN LÍNEA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Calibri"/>
              </a:rPr>
              <a:t>armorpay.net: la plataforma multi-empresa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0891B2"/>
                </a:solidFill>
                <a:latin typeface="Calibri"/>
              </a:rPr>
              <a:t>—  </a:t>
            </a:r>
            <a:r>
              <a:rPr sz="1450" b="1">
                <a:solidFill>
                  <a:srgbClr val="1E293B"/>
                </a:solidFill>
                <a:latin typeface="Calibri"/>
              </a:rPr>
              <a:t>Registro y aprobación. </a:t>
            </a:r>
            <a:r>
              <a:rPr sz="1450" b="0">
                <a:solidFill>
                  <a:srgbClr val="475569"/>
                </a:solidFill>
                <a:latin typeface="Calibri"/>
              </a:rPr>
              <a:t>un comercio se registra, nosotros revisamos y lo activamos.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0891B2"/>
                </a:solidFill>
                <a:latin typeface="Calibri"/>
              </a:rPr>
              <a:t>—  </a:t>
            </a:r>
            <a:r>
              <a:rPr sz="1450" b="1">
                <a:solidFill>
                  <a:srgbClr val="1E293B"/>
                </a:solidFill>
                <a:latin typeface="Calibri"/>
              </a:rPr>
              <a:t>Tres niveles de rol. </a:t>
            </a:r>
            <a:r>
              <a:rPr sz="1450" b="0">
                <a:solidFill>
                  <a:srgbClr val="475569"/>
                </a:solidFill>
                <a:latin typeface="Calibri"/>
              </a:rPr>
              <a:t>plataforma (nosotros), dueño del comercio y caja.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0891B2"/>
                </a:solidFill>
                <a:latin typeface="Calibri"/>
              </a:rPr>
              <a:t>—  </a:t>
            </a:r>
            <a:r>
              <a:rPr sz="1450" b="1">
                <a:solidFill>
                  <a:srgbClr val="1E293B"/>
                </a:solidFill>
                <a:latin typeface="Calibri"/>
              </a:rPr>
              <a:t>Aislamiento probado. </a:t>
            </a:r>
            <a:r>
              <a:rPr sz="1450" b="0">
                <a:solidFill>
                  <a:srgbClr val="475569"/>
                </a:solidFill>
                <a:latin typeface="Calibri"/>
              </a:rPr>
              <a:t>ningún comercio ve ni cobra el pago de otro — verificado.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0891B2"/>
                </a:solidFill>
                <a:latin typeface="Calibri"/>
              </a:rPr>
              <a:t>—  </a:t>
            </a:r>
            <a:r>
              <a:rPr sz="1450" b="1">
                <a:solidFill>
                  <a:srgbClr val="1E293B"/>
                </a:solidFill>
                <a:latin typeface="Calibri"/>
              </a:rPr>
              <a:t>Llave del banco por empresa. </a:t>
            </a:r>
            <a:r>
              <a:rPr sz="1450" b="0">
                <a:solidFill>
                  <a:srgbClr val="475569"/>
                </a:solidFill>
                <a:latin typeface="Calibri"/>
              </a:rPr>
              <a:t>cargada, cifrada y certificada contra el banco.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3317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0891B2"/>
                </a:solidFill>
                <a:latin typeface="Calibri"/>
              </a:rPr>
              <a:t>—  </a:t>
            </a:r>
            <a:r>
              <a:rPr sz="1450" b="1">
                <a:solidFill>
                  <a:srgbClr val="1E293B"/>
                </a:solidFill>
                <a:latin typeface="Calibri"/>
              </a:rPr>
              <a:t>Puente con el banco. </a:t>
            </a:r>
            <a:r>
              <a:rPr sz="1450" b="0">
                <a:solidFill>
                  <a:srgbClr val="475569"/>
                </a:solidFill>
                <a:latin typeface="Calibri"/>
              </a:rPr>
              <a:t>un solo enlace autorizado reparte a todas las empresas.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0891B2"/>
                </a:solidFill>
                <a:latin typeface="Calibri"/>
              </a:rPr>
              <a:t>—  </a:t>
            </a:r>
            <a:r>
              <a:rPr sz="1450" b="1">
                <a:solidFill>
                  <a:srgbClr val="1E293B"/>
                </a:solidFill>
                <a:latin typeface="Calibri"/>
              </a:rPr>
              <a:t>Planes y medición. </a:t>
            </a:r>
            <a:r>
              <a:rPr sz="1450" b="0">
                <a:solidFill>
                  <a:srgbClr val="475569"/>
                </a:solidFill>
                <a:latin typeface="Calibri"/>
              </a:rPr>
              <a:t>consumo por comercio, listo para facturar.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0891B2"/>
                </a:solidFill>
                <a:latin typeface="Calibri"/>
              </a:rPr>
              <a:t>—  </a:t>
            </a:r>
            <a:r>
              <a:rPr sz="1450" b="1">
                <a:solidFill>
                  <a:srgbClr val="1E293B"/>
                </a:solidFill>
                <a:latin typeface="Calibri"/>
              </a:rPr>
              <a:t>Instalable en la caja. </a:t>
            </a:r>
            <a:r>
              <a:rPr sz="1450" b="0">
                <a:solidFill>
                  <a:srgbClr val="475569"/>
                </a:solidFill>
                <a:latin typeface="Calibri"/>
              </a:rPr>
              <a:t>corre como app en la PC, siempre en línea.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1">
                <a:solidFill>
                  <a:srgbClr val="0891B2"/>
                </a:solidFill>
                <a:latin typeface="Calibri"/>
              </a:rPr>
              <a:t>—  </a:t>
            </a:r>
            <a:r>
              <a:rPr sz="1450" b="1">
                <a:solidFill>
                  <a:srgbClr val="1E293B"/>
                </a:solidFill>
                <a:latin typeface="Calibri"/>
              </a:rPr>
              <a:t>Mismo stack probado. </a:t>
            </a:r>
            <a:r>
              <a:rPr sz="1450" b="0">
                <a:solidFill>
                  <a:srgbClr val="475569"/>
                </a:solidFill>
                <a:latin typeface="Calibri"/>
              </a:rPr>
              <a:t>el que ya opera en producción, sin experimentos.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806440"/>
            <a:ext cx="105156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9253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En vivo en </a:t>
            </a:r>
            <a:r>
              <a:rPr sz="1300" b="1">
                <a:solidFill>
                  <a:srgbClr val="0E7490"/>
                </a:solidFill>
                <a:latin typeface="Calibri"/>
              </a:rPr>
              <a:t>armorpay.net</a:t>
            </a:r>
            <a:r>
              <a:rPr sz="1300" b="0">
                <a:solidFill>
                  <a:srgbClr val="1E293B"/>
                </a:solidFill>
                <a:latin typeface="Calibri"/>
              </a:rPr>
              <a:t>  ·  el sistema actual de Armor Market sigue operando intacto.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alibri"/>
              </a:rPr>
              <a:t>CÓMO GANAMOS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Calibri"/>
              </a:rPr>
              <a:t>Planes con piso incluido + excedente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42900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Calibri"/>
              </a:rPr>
              <a:t>Prueba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Gratis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200 cobros/mes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Captación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5424" y="2331720"/>
            <a:ext cx="34290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2331720"/>
            <a:ext cx="3429000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26060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Calibri"/>
              </a:rPr>
              <a:t>Comercio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30632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$29 /mes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3931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2.000 cobros/mes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43434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2–8 cajas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2331720"/>
            <a:ext cx="3429000" cy="265176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26060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Cadena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30632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$99 /mes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931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10.000 cobros/mes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43434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Sin límite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Se cuenta el cobro confirmado, no la búsqueda. Pasarse del piso </a:t>
            </a:r>
            <a:r>
              <a:rPr sz="1400" b="1">
                <a:solidFill>
                  <a:srgbClr val="0E7490"/>
                </a:solidFill>
                <a:latin typeface="Calibri"/>
              </a:rPr>
              <a:t>nunca corta una validación</a:t>
            </a:r>
            <a:r>
              <a:rPr sz="1400" b="0">
                <a:solidFill>
                  <a:srgbClr val="1E293B"/>
                </a:solidFill>
                <a:latin typeface="Calibri"/>
              </a:rPr>
              <a:t>: se factura el excedente. Un sistema que se apaga cuando más vendes obliga a entregar sin verificar.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Precios: propuesta a validar con las primeras conversaciones de venta.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alibri"/>
              </a:rPr>
              <a:t>LA COMPETENCIA DIRECTA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Calibri"/>
              </a:rPr>
              <a:t>MovilPay cobra $0,0085 por transacción. No competimos por precio.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A precio por transacción no le ganamos: tiene más bancos, más años y menor costo. </a:t>
            </a:r>
            <a:r>
              <a:rPr sz="1500" b="1">
                <a:solidFill>
                  <a:srgbClr val="0E7490"/>
                </a:solidFill>
                <a:latin typeface="Calibri"/>
              </a:rPr>
              <a:t>Le ganamos en lo que no hace.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71800"/>
            <a:ext cx="10515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18104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Volumen / 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11810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BD5E1"/>
                </a:solidFill>
                <a:latin typeface="Calibri"/>
              </a:rPr>
              <a:t>Con MovilPay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11810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Nuestro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10515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03904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300 cobros — bodegón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80390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$2,55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80390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Prueba (gratis) → crece con nosotros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43400"/>
            <a:ext cx="10515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9704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3.000 cobros — comercio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48970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$25,50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48970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$29, con toda la capa de caja incluida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75504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10.000 cobros — cadena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517550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$85,00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17550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$99, sin límite de cajas ni sucursales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Conclusión: el segmento son las cadenas con varias cajas, no el volumen de comercios chicos.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alibri"/>
              </a:rPr>
              <a:t>CÓMO LO VENDEMOS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Calibri"/>
              </a:rPr>
              <a:t>Vender antes de construir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—  </a:t>
            </a:r>
            <a:r>
              <a:rPr sz="1600" b="1">
                <a:solidFill>
                  <a:srgbClr val="1E293B"/>
                </a:solidFill>
                <a:latin typeface="Calibri"/>
              </a:rPr>
              <a:t>Segmento: cadenas con varias cajas. </a:t>
            </a:r>
            <a:r>
              <a:rPr sz="1600" b="0">
                <a:solidFill>
                  <a:srgbClr val="475569"/>
                </a:solidFill>
                <a:latin typeface="Calibri"/>
              </a:rPr>
              <a:t>Ticket alto, venta directa, el dolor que nadie más resuelve.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—  </a:t>
            </a:r>
            <a:r>
              <a:rPr sz="1600" b="1">
                <a:solidFill>
                  <a:srgbClr val="1E293B"/>
                </a:solidFill>
                <a:latin typeface="Calibri"/>
              </a:rPr>
              <a:t>Nuestro activo: la relación con el banco. </a:t>
            </a:r>
            <a:r>
              <a:rPr sz="1600" b="0">
                <a:solidFill>
                  <a:srgbClr val="475569"/>
                </a:solidFill>
                <a:latin typeface="Calibri"/>
              </a:rPr>
              <a:t>Le tramitamos al comercio la afiliación — la fricción que lo mantiene donde está.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—  </a:t>
            </a:r>
            <a:r>
              <a:rPr sz="1600" b="1">
                <a:solidFill>
                  <a:srgbClr val="1E293B"/>
                </a:solidFill>
                <a:latin typeface="Calibri"/>
              </a:rPr>
              <a:t>Atención directa. </a:t>
            </a:r>
            <a:r>
              <a:rPr sz="1600" b="0">
                <a:solidFill>
                  <a:srgbClr val="475569"/>
                </a:solidFill>
                <a:latin typeface="Calibri"/>
              </a:rPr>
              <a:t>Somos chicos: el dueño escribe y le respondemos. Ventaja real hasta cierto número de clientes.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>
                <a:solidFill>
                  <a:srgbClr val="0891B2"/>
                </a:solidFill>
                <a:latin typeface="Calibri"/>
              </a:rPr>
              <a:t>—  </a:t>
            </a:r>
            <a:r>
              <a:rPr sz="1600" b="1">
                <a:solidFill>
                  <a:srgbClr val="1E293B"/>
                </a:solidFill>
                <a:latin typeface="Calibri"/>
              </a:rPr>
              <a:t>Somos nuestro propio primer caso de éxito. </a:t>
            </a:r>
            <a:r>
              <a:rPr sz="1600" b="0">
                <a:solidFill>
                  <a:srgbClr val="475569"/>
                </a:solidFill>
                <a:latin typeface="Calibri"/>
              </a:rPr>
              <a:t>Métricas reales de latencia y antifraude, no un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alibri"/>
              </a:rPr>
              <a:t>CON PUERTAS DE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Calibri"/>
              </a:rPr>
              <a:t>Cada etapa se aprueba con evidencia, no con fe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25420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2542032" cy="640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8716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G0 · Consulta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46120"/>
            <a:ext cx="2148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¿La actividad exige registro como ITFB? Bloquea facturar a terceros.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377440"/>
            <a:ext cx="25420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377440"/>
            <a:ext cx="2542032" cy="6400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48716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G1 · Definiciones del banco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46120"/>
            <a:ext cx="2148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Certificación por empresa y límite de tráfico. En marcha.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2377440"/>
            <a:ext cx="25420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79" y="2377440"/>
            <a:ext cx="2542032" cy="640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248716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G2 · Piloto interno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3246120"/>
            <a:ext cx="2148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Las 9 empresas del grupo, ya operando. No depende de nadie externo.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377440"/>
            <a:ext cx="254203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0" y="2377440"/>
            <a:ext cx="2542032" cy="6400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48716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G3 · Terceros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246120"/>
            <a:ext cx="2148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Registro abierto y venta. Se abre solo con G0 favorable.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El capital y el esfuerzo solo avanzan sobre demanda ya demostrada.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alibri"/>
              </a:rPr>
              <a:t>CON LOS OJOS ABIERTOS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Calibri"/>
              </a:rPr>
              <a:t>Riesgos y cómo los manejamos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10515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28016" cy="8961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41448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E293B"/>
                </a:solidFill>
                <a:latin typeface="Calibri"/>
              </a:rPr>
              <a:t>Perímetro regulatorio (ITFB)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587752"/>
            <a:ext cx="1234440" cy="384048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63347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B45309"/>
                </a:solidFill>
                <a:latin typeface="Calibri"/>
              </a:rPr>
              <a:t>Existencial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59736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Consulta legal antes de facturar a un tercero. El piloto del grupo no depende de esto.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19272"/>
            <a:ext cx="10515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319272"/>
            <a:ext cx="128016" cy="8961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290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E293B"/>
                </a:solidFill>
                <a:latin typeface="Calibri"/>
              </a:rPr>
              <a:t>Dependencia de un solo banco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575304"/>
            <a:ext cx="1234440" cy="384048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621024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B45309"/>
                </a:solidFill>
                <a:latin typeface="Calibri"/>
              </a:rPr>
              <a:t>Alto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447288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Relación directa con directores; arquitectura lista para sumar más bancos.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06824"/>
            <a:ext cx="10515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06824"/>
            <a:ext cx="128016" cy="89611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416552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E293B"/>
                </a:solidFill>
                <a:latin typeface="Calibri"/>
              </a:rPr>
              <a:t>Capacidad de una persona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4562856"/>
            <a:ext cx="123444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4608576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E7490"/>
                </a:solidFill>
                <a:latin typeface="Calibri"/>
              </a:rPr>
              <a:t>Medio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43484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Vender antes de construir; incorporar apoyo comercial antes que técnico.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294376"/>
            <a:ext cx="10515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294376"/>
            <a:ext cx="128016" cy="89611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404104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E293B"/>
                </a:solidFill>
                <a:latin typeface="Calibri"/>
              </a:rPr>
              <a:t>Continuidad y respaldo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5550408"/>
            <a:ext cx="123444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5596128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E7490"/>
                </a:solidFill>
                <a:latin typeface="Calibri"/>
              </a:rPr>
              <a:t>Medio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422392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Documentación completa, monitoreo y respaldo — copia fuera del servidor pendiente.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A DÓNDE VAMOS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La meta a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51760"/>
            <a:ext cx="2542032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2D3EE"/>
                </a:solidFill>
                <a:latin typeface="Calibri"/>
              </a:rPr>
              <a:t>$5.000 – 8.000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de ingreso mensual recurrente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651760"/>
            <a:ext cx="2542032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88036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2D3EE"/>
                </a:solidFill>
                <a:latin typeface="Calibri"/>
              </a:rPr>
              <a:t>2+ bancos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7033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integrados por canales oficiales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2651760"/>
            <a:ext cx="2542032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288036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2D3EE"/>
                </a:solidFill>
                <a:latin typeface="Calibri"/>
              </a:rPr>
              <a:t>&gt; 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37033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de retención de clientes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2651760"/>
            <a:ext cx="2542032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88036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2D3EE"/>
                </a:solidFill>
                <a:latin typeface="Calibri"/>
              </a:rPr>
              <a:t>1 aliado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70332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de distribución funcionando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Meta del plan de negocio. El camino se recorre por etapas con puertas de decisión.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7490"/>
                </a:solidFill>
                <a:latin typeface="Calibri"/>
              </a:rPr>
              <a:t>LO QUE PEDIMOS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E293B"/>
                </a:solidFill>
                <a:latin typeface="Calibri"/>
              </a:rPr>
              <a:t>Para arrancar necesitamos de Dirección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8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—  </a:t>
            </a:r>
            <a:r>
              <a:rPr sz="1700" b="1">
                <a:solidFill>
                  <a:srgbClr val="1E293B"/>
                </a:solidFill>
                <a:latin typeface="Calibri"/>
              </a:rPr>
              <a:t>Luz verde para vender </a:t>
            </a:r>
            <a:r>
              <a:rPr sz="1700" b="0">
                <a:solidFill>
                  <a:srgbClr val="475569"/>
                </a:solidFill>
                <a:latin typeface="Calibri"/>
              </a:rPr>
              <a:t>las instancias del grupo y las primeras cadenas.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8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—  </a:t>
            </a:r>
            <a:r>
              <a:rPr sz="1700" b="1">
                <a:solidFill>
                  <a:srgbClr val="1E293B"/>
                </a:solidFill>
                <a:latin typeface="Calibri"/>
              </a:rPr>
              <a:t>Autorizar la consulta legal </a:t>
            </a:r>
            <a:r>
              <a:rPr sz="1700" b="0">
                <a:solidFill>
                  <a:srgbClr val="475569"/>
                </a:solidFill>
                <a:latin typeface="Calibri"/>
              </a:rPr>
              <a:t>sobre el perímetro ITFB, antes de facturar a un tercero.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8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—  </a:t>
            </a:r>
            <a:r>
              <a:rPr sz="1700" b="1">
                <a:solidFill>
                  <a:srgbClr val="1E293B"/>
                </a:solidFill>
                <a:latin typeface="Calibri"/>
              </a:rPr>
              <a:t>Definir la marca </a:t>
            </a:r>
            <a:r>
              <a:rPr sz="1700" b="0">
                <a:solidFill>
                  <a:srgbClr val="475569"/>
                </a:solidFill>
                <a:latin typeface="Calibri"/>
              </a:rPr>
              <a:t>¿se registra “ArmorPay” ante SAPI como marca de VipSoft?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800"/>
              </a:spcAft>
            </a:pPr>
            <a:r>
              <a:rPr sz="1700" b="1">
                <a:solidFill>
                  <a:srgbClr val="0891B2"/>
                </a:solidFill>
                <a:latin typeface="Calibri"/>
              </a:rPr>
              <a:t>—  </a:t>
            </a:r>
            <a:r>
              <a:rPr sz="1700" b="1">
                <a:solidFill>
                  <a:srgbClr val="1E293B"/>
                </a:solidFill>
                <a:latin typeface="Calibri"/>
              </a:rPr>
              <a:t>Acompañamiento comercial </a:t>
            </a:r>
            <a:r>
              <a:rPr sz="1700" b="0">
                <a:solidFill>
                  <a:srgbClr val="475569"/>
                </a:solidFill>
                <a:latin typeface="Calibri"/>
              </a:rPr>
              <a:t>abrir puertas a las primeras cadenas candidatas.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70585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E293B"/>
                </a:solidFill>
                <a:latin typeface="Calibri"/>
              </a:rPr>
              <a:t>El código ya está. El banco ya nos conoce. Falta la decisión de convertirlo en negocio.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ArmorPay · Un proyecto de VipSoft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1498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Somos nuestro propio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22D3EE"/>
                </a:solidFill>
                <a:latin typeface="Calibri"/>
              </a:rPr>
              <a:t>primer caso de éxito.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3434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Calibri"/>
              </a:rPr>
              <a:t>Primero la venta. Después el convenio. El código ya está probado.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ArmorPay · Un proyecto de VipSoft · armorpay.net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